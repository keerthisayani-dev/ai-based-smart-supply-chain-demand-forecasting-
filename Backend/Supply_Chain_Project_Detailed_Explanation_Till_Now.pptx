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Supply Chain Forecasting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Detailed explanation of implementation status till now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0F234B"/>
                </a:solidFill>
              </a:rPr>
              <a:t>1. Project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5486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32D3C"/>
                </a:solidFill>
              </a:defRPr>
            </a:pPr>
            <a:r>
              <a:t>Goal: build an AI-enabled demand forecasting platform for retail supply-chain planning.</a:t>
            </a:r>
          </a:p>
          <a:p>
            <a:pPr>
              <a:spcAft>
                <a:spcPts val="700"/>
              </a:spcAft>
              <a:defRPr sz="1900">
                <a:solidFill>
                  <a:srgbClr val="232D3C"/>
                </a:solidFill>
              </a:defRPr>
            </a:pPr>
            <a:r>
              <a:t>Focus: predict short-term demand and support inventory decisions to reduce stockouts and overstock.</a:t>
            </a:r>
          </a:p>
          <a:p>
            <a:pPr>
              <a:spcAft>
                <a:spcPts val="700"/>
              </a:spcAft>
              <a:defRPr sz="1900">
                <a:solidFill>
                  <a:srgbClr val="232D3C"/>
                </a:solidFill>
              </a:defRPr>
            </a:pPr>
            <a:r>
              <a:t>Scope: complete stack delivery including data pipeline, model logic, API services, and business dashboard.</a:t>
            </a:r>
          </a:p>
          <a:p>
            <a:pPr>
              <a:spcAft>
                <a:spcPts val="700"/>
              </a:spcAft>
              <a:defRPr sz="1900">
                <a:solidFill>
                  <a:srgbClr val="232D3C"/>
                </a:solidFill>
              </a:defRPr>
            </a:pPr>
            <a:r>
              <a:t>Status: working end-to-end prototype with authentication, role controls, and downloadable outputs.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0F234B"/>
                </a:solidFill>
              </a:rPr>
              <a:t>2. Dataset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5486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32D3C"/>
                </a:solidFill>
              </a:defRPr>
            </a:pPr>
            <a:r>
              <a:t>Dataset size: 164,400 rows x 15 columns; period 2022-01-01 to 2024-12-31.</a:t>
            </a:r>
          </a:p>
          <a:p>
            <a:pPr>
              <a:spcAft>
                <a:spcPts val="700"/>
              </a:spcAft>
              <a:defRPr sz="1900">
                <a:solidFill>
                  <a:srgbClr val="232D3C"/>
                </a:solidFill>
              </a:defRPr>
            </a:pPr>
            <a:r>
              <a:t>Coverage: 5 stores, 30 products, 15 categories, and 4 regions.</a:t>
            </a:r>
          </a:p>
          <a:p>
            <a:pPr>
              <a:spcAft>
                <a:spcPts val="700"/>
              </a:spcAft>
              <a:defRPr sz="1900">
                <a:solidFill>
                  <a:srgbClr val="232D3C"/>
                </a:solidFill>
              </a:defRPr>
            </a:pPr>
            <a:r>
              <a:t>Signals used: units sold, inventory, units ordered, demand forecast, pricing, discount, weather, promotion, seasonality.</a:t>
            </a:r>
          </a:p>
          <a:p>
            <a:pPr>
              <a:spcAft>
                <a:spcPts val="700"/>
              </a:spcAft>
              <a:defRPr sz="1900">
                <a:solidFill>
                  <a:srgbClr val="232D3C"/>
                </a:solidFill>
              </a:defRPr>
            </a:pPr>
            <a:r>
              <a:t>Volume: 23,612,231 total units sold; average 21,544 units/day.</a:t>
            </a:r>
          </a:p>
        </p:txBody>
      </p:sp>
      <p:pic>
        <p:nvPicPr>
          <p:cNvPr id="4" name="Picture 3" descr="monthly_units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325880"/>
            <a:ext cx="5943600" cy="35661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80760" y="4983480"/>
            <a:ext cx="5943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6505F"/>
                </a:solidFill>
              </a:defRPr>
            </a:pPr>
            <a:r>
              <a:t>Figure: Monthly demand trend used to understand growth and seasonality.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0F234B"/>
                </a:solidFill>
              </a:rPr>
              <a:t>3. Data Quality &amp; Preparation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5486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32D3C"/>
                </a:solidFill>
              </a:defRPr>
            </a:pPr>
            <a:r>
              <a:t>Column normalization maps real-world aliases to required schema (date, category/product, units sold).</a:t>
            </a:r>
          </a:p>
          <a:p>
            <a:pPr>
              <a:spcAft>
                <a:spcPts val="700"/>
              </a:spcAft>
              <a:defRPr sz="1900">
                <a:solidFill>
                  <a:srgbClr val="232D3C"/>
                </a:solidFill>
              </a:defRPr>
            </a:pPr>
            <a:r>
              <a:t>Date parsing supports mixed formats and protects against malformed historical values.</a:t>
            </a:r>
          </a:p>
          <a:p>
            <a:pPr>
              <a:spcAft>
                <a:spcPts val="700"/>
              </a:spcAft>
              <a:defRPr sz="1900">
                <a:solidFill>
                  <a:srgbClr val="232D3C"/>
                </a:solidFill>
              </a:defRPr>
            </a:pPr>
            <a:r>
              <a:t>Missing daily points are handled with resampling + forward/backward filling for robust model input.</a:t>
            </a:r>
          </a:p>
          <a:p>
            <a:pPr>
              <a:spcAft>
                <a:spcPts val="700"/>
              </a:spcAft>
              <a:defRPr sz="1900">
                <a:solidFill>
                  <a:srgbClr val="232D3C"/>
                </a:solidFill>
              </a:defRPr>
            </a:pPr>
            <a:r>
              <a:t>Category-level daily series are aggregated before feature generation and training.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0F234B"/>
                </a:solidFill>
              </a:rPr>
              <a:t>4. Feature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5486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32D3C"/>
                </a:solidFill>
              </a:defRPr>
            </a:pPr>
            <a:r>
              <a:t>Lag features: lag_1, lag_7, lag_14, lag_28 to capture immediate and medium-term demand memory.</a:t>
            </a:r>
          </a:p>
          <a:p>
            <a:pPr>
              <a:spcAft>
                <a:spcPts val="700"/>
              </a:spcAft>
              <a:defRPr sz="1900">
                <a:solidFill>
                  <a:srgbClr val="232D3C"/>
                </a:solidFill>
              </a:defRPr>
            </a:pPr>
            <a:r>
              <a:t>Rolling statistics: rolling mean and standard deviation for short-window trend tracking.</a:t>
            </a:r>
          </a:p>
          <a:p>
            <a:pPr>
              <a:spcAft>
                <a:spcPts val="700"/>
              </a:spcAft>
              <a:defRPr sz="1900">
                <a:solidFill>
                  <a:srgbClr val="232D3C"/>
                </a:solidFill>
              </a:defRPr>
            </a:pPr>
            <a:r>
              <a:t>Calendar features: day-of-week, month, weekend flags, and sinusoidal seasonal encodings.</a:t>
            </a:r>
          </a:p>
          <a:p>
            <a:pPr>
              <a:spcAft>
                <a:spcPts val="700"/>
              </a:spcAft>
              <a:defRPr sz="1900">
                <a:solidFill>
                  <a:srgbClr val="232D3C"/>
                </a:solidFill>
              </a:defRPr>
            </a:pPr>
            <a:r>
              <a:t>Business context inputs: inventory, pricing, discounts, competitor pricing, and promotions.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0F234B"/>
                </a:solidFill>
              </a:rPr>
              <a:t>5. Forecasting 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5486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32D3C"/>
                </a:solidFill>
              </a:defRPr>
            </a:pPr>
            <a:r>
              <a:t>Current model: LinearRegression with engineered temporal + contextual features.</a:t>
            </a:r>
          </a:p>
          <a:p>
            <a:pPr>
              <a:spcAft>
                <a:spcPts val="700"/>
              </a:spcAft>
              <a:defRPr sz="1900">
                <a:solidFill>
                  <a:srgbClr val="232D3C"/>
                </a:solidFill>
              </a:defRPr>
            </a:pPr>
            <a:r>
              <a:t>Model supports adaptive holiday-aware dynamics through configured fixed and special holiday maps.</a:t>
            </a:r>
          </a:p>
          <a:p>
            <a:pPr>
              <a:spcAft>
                <a:spcPts val="700"/>
              </a:spcAft>
              <a:defRPr sz="1900">
                <a:solidFill>
                  <a:srgbClr val="232D3C"/>
                </a:solidFill>
              </a:defRPr>
            </a:pPr>
            <a:r>
              <a:t>Historical forecast-vs-actual mean absolute gap in dataset: 6.54 units.</a:t>
            </a:r>
          </a:p>
          <a:p>
            <a:pPr>
              <a:spcAft>
                <a:spcPts val="700"/>
              </a:spcAft>
              <a:defRPr sz="1900">
                <a:solidFill>
                  <a:srgbClr val="232D3C"/>
                </a:solidFill>
              </a:defRPr>
            </a:pPr>
            <a:r>
              <a:t>Output: next-day to multi-day demand forecasts consumable by dashboard and export workflows.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0F234B"/>
                </a:solidFill>
              </a:rPr>
              <a:t>6.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5486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32D3C"/>
                </a:solidFill>
              </a:defRPr>
            </a:pPr>
            <a:r>
              <a:t>Backend: FastAPI service with endpoints for forecasts, category listing, history, retraining, and admin tasks.</a:t>
            </a:r>
          </a:p>
          <a:p>
            <a:pPr>
              <a:spcAft>
                <a:spcPts val="700"/>
              </a:spcAft>
              <a:defRPr sz="1900">
                <a:solidFill>
                  <a:srgbClr val="232D3C"/>
                </a:solidFill>
              </a:defRPr>
            </a:pPr>
            <a:r>
              <a:t>Persistence: SQLite databases for auth/session management and forecast history.</a:t>
            </a:r>
          </a:p>
          <a:p>
            <a:pPr>
              <a:spcAft>
                <a:spcPts val="700"/>
              </a:spcAft>
              <a:defRPr sz="1900">
                <a:solidFill>
                  <a:srgbClr val="232D3C"/>
                </a:solidFill>
              </a:defRPr>
            </a:pPr>
            <a:r>
              <a:t>Frontend: HTML/CSS/JS dashboard pages for forecast input, result visualization, and admin operations.</a:t>
            </a:r>
          </a:p>
          <a:p>
            <a:pPr>
              <a:spcAft>
                <a:spcPts val="700"/>
              </a:spcAft>
              <a:defRPr sz="1900">
                <a:solidFill>
                  <a:srgbClr val="232D3C"/>
                </a:solidFill>
              </a:defRPr>
            </a:pPr>
            <a:r>
              <a:t>Upload pipeline: staged datasets with approve/reject flow for controlled replacement of production data.</a:t>
            </a:r>
          </a:p>
        </p:txBody>
      </p:sp>
      <p:pic>
        <p:nvPicPr>
          <p:cNvPr id="4" name="Picture 3" descr="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325880"/>
            <a:ext cx="5943600" cy="35661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80760" y="4983480"/>
            <a:ext cx="5943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6505F"/>
                </a:solidFill>
              </a:defRPr>
            </a:pPr>
            <a:r>
              <a:t>Figure: High-level implementation architecture from data to decision UI.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0F234B"/>
                </a:solidFill>
              </a:rPr>
              <a:t>7. Dashboard &amp; Access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5486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32D3C"/>
                </a:solidFill>
              </a:defRPr>
            </a:pPr>
            <a:r>
              <a:t>Role model implemented: admin, inventory_manager, and viewer with feature gating.</a:t>
            </a:r>
          </a:p>
          <a:p>
            <a:pPr>
              <a:spcAft>
                <a:spcPts val="700"/>
              </a:spcAft>
              <a:defRPr sz="1900">
                <a:solidFill>
                  <a:srgbClr val="232D3C"/>
                </a:solidFill>
              </a:defRPr>
            </a:pPr>
            <a:r>
              <a:t>Admin capabilities include user/dataset actions and model retraining controls.</a:t>
            </a:r>
          </a:p>
          <a:p>
            <a:pPr>
              <a:spcAft>
                <a:spcPts val="700"/>
              </a:spcAft>
              <a:defRPr sz="1900">
                <a:solidFill>
                  <a:srgbClr val="232D3C"/>
                </a:solidFill>
              </a:defRPr>
            </a:pPr>
            <a:r>
              <a:t>Inventory manager can run and view forecasts, with restricted admin-only operations.</a:t>
            </a:r>
          </a:p>
          <a:p>
            <a:pPr>
              <a:spcAft>
                <a:spcPts val="700"/>
              </a:spcAft>
              <a:defRPr sz="1900">
                <a:solidFill>
                  <a:srgbClr val="232D3C"/>
                </a:solidFill>
              </a:defRPr>
            </a:pPr>
            <a:r>
              <a:t>Viewer role is read-only for forecast consumption and monitoring.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0F234B"/>
                </a:solidFill>
              </a:rPr>
              <a:t>8. Analytical Insights So Far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5486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32D3C"/>
                </a:solidFill>
              </a:defRPr>
            </a:pPr>
            <a:r>
              <a:t>Demand concentration is category-skewed, indicating priority SKUs/categories for planning optimization.</a:t>
            </a:r>
          </a:p>
          <a:p>
            <a:pPr>
              <a:spcAft>
                <a:spcPts val="700"/>
              </a:spcAft>
              <a:defRPr sz="1900">
                <a:solidFill>
                  <a:srgbClr val="232D3C"/>
                </a:solidFill>
              </a:defRPr>
            </a:pPr>
            <a:r>
              <a:t>Regional split is uneven, so location-sensitive replenishment policies are justified.</a:t>
            </a:r>
          </a:p>
          <a:p>
            <a:pPr>
              <a:spcAft>
                <a:spcPts val="700"/>
              </a:spcAft>
              <a:defRPr sz="1900">
                <a:solidFill>
                  <a:srgbClr val="232D3C"/>
                </a:solidFill>
              </a:defRPr>
            </a:pPr>
            <a:r>
              <a:t>Average inventory level is 447.2; low-stock instances (&lt;80 units) are 25.5%.</a:t>
            </a:r>
          </a:p>
          <a:p>
            <a:pPr>
              <a:spcAft>
                <a:spcPts val="700"/>
              </a:spcAft>
              <a:defRPr sz="1900">
                <a:solidFill>
                  <a:srgbClr val="232D3C"/>
                </a:solidFill>
              </a:defRPr>
            </a:pPr>
            <a:r>
              <a:t>Trend analysis suggests combining seasonal behavior with operational constraints for better procurement plans.</a:t>
            </a:r>
          </a:p>
        </p:txBody>
      </p:sp>
      <p:pic>
        <p:nvPicPr>
          <p:cNvPr id="4" name="Picture 3" descr="top_catego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325880"/>
            <a:ext cx="5943600" cy="35661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80760" y="4983480"/>
            <a:ext cx="5943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6505F"/>
                </a:solidFill>
              </a:defRPr>
            </a:pPr>
            <a:r>
              <a:t>Figure: Top category contribution by units sold.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0F234B"/>
                </a:solidFill>
              </a:rPr>
              <a:t>9. Regional Sales Distribution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5486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32D3C"/>
                </a:solidFill>
              </a:defRPr>
            </a:pPr>
            <a:r>
              <a:t>Region-wise demand shares are materially different and should influence stock allocation strategy.</a:t>
            </a:r>
          </a:p>
          <a:p>
            <a:pPr>
              <a:spcAft>
                <a:spcPts val="700"/>
              </a:spcAft>
              <a:defRPr sz="1900">
                <a:solidFill>
                  <a:srgbClr val="232D3C"/>
                </a:solidFill>
              </a:defRPr>
            </a:pPr>
            <a:r>
              <a:t>Single global reorder thresholds can be suboptimal when demand variance differs by geography.</a:t>
            </a:r>
          </a:p>
          <a:p>
            <a:pPr>
              <a:spcAft>
                <a:spcPts val="700"/>
              </a:spcAft>
              <a:defRPr sz="1900">
                <a:solidFill>
                  <a:srgbClr val="232D3C"/>
                </a:solidFill>
              </a:defRPr>
            </a:pPr>
            <a:r>
              <a:t>Forecast service can be extended to region-store granularity for more precise replenishment.</a:t>
            </a:r>
          </a:p>
          <a:p>
            <a:pPr>
              <a:spcAft>
                <a:spcPts val="700"/>
              </a:spcAft>
              <a:defRPr sz="1900">
                <a:solidFill>
                  <a:srgbClr val="232D3C"/>
                </a:solidFill>
              </a:defRPr>
            </a:pPr>
            <a:r>
              <a:t>This is a strong base for future multi-echelon inventory optimization.</a:t>
            </a:r>
          </a:p>
        </p:txBody>
      </p:sp>
      <p:pic>
        <p:nvPicPr>
          <p:cNvPr id="4" name="Picture 3" descr="regional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325880"/>
            <a:ext cx="5943600" cy="35661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80760" y="4983480"/>
            <a:ext cx="5943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6505F"/>
                </a:solidFill>
              </a:defRPr>
            </a:pPr>
            <a:r>
              <a:t>Figure: Sales share across North, South, East, and West regions.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0F234B"/>
                </a:solidFill>
              </a:rPr>
              <a:t>10. Current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5486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32D3C"/>
                </a:solidFill>
              </a:defRPr>
            </a:pPr>
            <a:r>
              <a:t>Current baseline model is deterministic; confidence intervals are not yet surfaced in UI.</a:t>
            </a:r>
          </a:p>
          <a:p>
            <a:pPr>
              <a:spcAft>
                <a:spcPts val="700"/>
              </a:spcAft>
              <a:defRPr sz="1900">
                <a:solidFill>
                  <a:srgbClr val="232D3C"/>
                </a:solidFill>
              </a:defRPr>
            </a:pPr>
            <a:r>
              <a:t>Automated retraining schedules and drift alerts can be strengthened for production governance.</a:t>
            </a:r>
          </a:p>
          <a:p>
            <a:pPr>
              <a:spcAft>
                <a:spcPts val="700"/>
              </a:spcAft>
              <a:defRPr sz="1900">
                <a:solidFill>
                  <a:srgbClr val="232D3C"/>
                </a:solidFill>
              </a:defRPr>
            </a:pPr>
            <a:r>
              <a:t>Evaluation tracking should be expanded with a dedicated metrics dashboard over time windows.</a:t>
            </a:r>
          </a:p>
          <a:p>
            <a:pPr>
              <a:spcAft>
                <a:spcPts val="700"/>
              </a:spcAft>
              <a:defRPr sz="1900">
                <a:solidFill>
                  <a:srgbClr val="232D3C"/>
                </a:solidFill>
              </a:defRPr>
            </a:pPr>
            <a:r>
              <a:t>Supply constraints and lead-time uncertainty are not yet integrated into optimization logic.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0F234B"/>
                </a:solidFill>
              </a:rPr>
              <a:t>11. Next Development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5486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32D3C"/>
                </a:solidFill>
              </a:defRPr>
            </a:pPr>
            <a:r>
              <a:t>Add probabilistic forecasting (P10/P50/P90) for risk-aware planning decisions.</a:t>
            </a:r>
          </a:p>
          <a:p>
            <a:pPr>
              <a:spcAft>
                <a:spcPts val="700"/>
              </a:spcAft>
              <a:defRPr sz="1900">
                <a:solidFill>
                  <a:srgbClr val="232D3C"/>
                </a:solidFill>
              </a:defRPr>
            </a:pPr>
            <a:r>
              <a:t>Introduce auto-retraining pipeline with model registry and rollback controls.</a:t>
            </a:r>
          </a:p>
          <a:p>
            <a:pPr>
              <a:spcAft>
                <a:spcPts val="700"/>
              </a:spcAft>
              <a:defRPr sz="1900">
                <a:solidFill>
                  <a:srgbClr val="232D3C"/>
                </a:solidFill>
              </a:defRPr>
            </a:pPr>
            <a:r>
              <a:t>Implement reorder recommendation engine combining forecast, lead time, safety stock, and service levels.</a:t>
            </a:r>
          </a:p>
          <a:p>
            <a:pPr>
              <a:spcAft>
                <a:spcPts val="700"/>
              </a:spcAft>
              <a:defRPr sz="1900">
                <a:solidFill>
                  <a:srgbClr val="232D3C"/>
                </a:solidFill>
              </a:defRPr>
            </a:pPr>
            <a:r>
              <a:t>Enhance admin observability with forecast error trends by category and region.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0F234B"/>
                </a:solidFill>
              </a:rPr>
              <a:t>12.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5486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32D3C"/>
                </a:solidFill>
              </a:defRPr>
            </a:pPr>
            <a:r>
              <a:t>The project now has a complete functional chain: data ingestion -&gt; feature engineering -&gt; forecast API -&gt; dashboard.</a:t>
            </a:r>
          </a:p>
          <a:p>
            <a:pPr>
              <a:spcAft>
                <a:spcPts val="700"/>
              </a:spcAft>
              <a:defRPr sz="1900">
                <a:solidFill>
                  <a:srgbClr val="232D3C"/>
                </a:solidFill>
              </a:defRPr>
            </a:pPr>
            <a:r>
              <a:t>Core foundation is stable enough for iterative optimization and production hardening.</a:t>
            </a:r>
          </a:p>
          <a:p>
            <a:pPr>
              <a:spcAft>
                <a:spcPts val="700"/>
              </a:spcAft>
              <a:defRPr sz="1900">
                <a:solidFill>
                  <a:srgbClr val="232D3C"/>
                </a:solidFill>
              </a:defRPr>
            </a:pPr>
            <a:r>
              <a:t>Business value path is clear: better availability, lower excess inventory, and faster planning cycles.</a:t>
            </a:r>
          </a:p>
          <a:p>
            <a:pPr>
              <a:spcAft>
                <a:spcPts val="700"/>
              </a:spcAft>
              <a:defRPr sz="1900">
                <a:solidFill>
                  <a:srgbClr val="232D3C"/>
                </a:solidFill>
              </a:defRPr>
            </a:pPr>
            <a:r>
              <a:t>This creates a scalable platform for AI-assisted retail supply-chain management.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